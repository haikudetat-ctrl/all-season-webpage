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144cd9bb064f4b" /><Relationship Type="http://schemas.openxmlformats.org/officeDocument/2006/relationships/extended-properties" Target="/docProps/app.xml" Id="R38f98f90a2e840ca" /><Relationship Type="http://schemas.openxmlformats.org/officeDocument/2006/relationships/officeDocument" Target="/ppt/presentation.xml" Id="R4229ae542525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e69270ed084612"/>
  </p:sldMasterIdLst>
  <p:notesMasterIdLst>
    <p:notesMasterId xmlns:r="http://schemas.openxmlformats.org/officeDocument/2006/relationships" r:id="R1d74e7e6e49b4c34"/>
  </p:notesMasterIdLst>
  <p:sldIdLst>
    <p:sldId xmlns:r="http://schemas.openxmlformats.org/officeDocument/2006/relationships" id="256" r:id="R1914d4a71b634980"/>
    <p:sldId xmlns:r="http://schemas.openxmlformats.org/officeDocument/2006/relationships" id="257" r:id="Rcb49408fac3b4bf0"/>
    <p:sldId xmlns:r="http://schemas.openxmlformats.org/officeDocument/2006/relationships" id="258" r:id="Rfc52247ee71445de"/>
    <p:sldId xmlns:r="http://schemas.openxmlformats.org/officeDocument/2006/relationships" id="259" r:id="R9b351bf9792b4ba0"/>
    <p:sldId xmlns:r="http://schemas.openxmlformats.org/officeDocument/2006/relationships" id="260" r:id="Rab72a8e1f7324d30"/>
    <p:sldId xmlns:r="http://schemas.openxmlformats.org/officeDocument/2006/relationships" id="261" r:id="R350876ef555a442f"/>
    <p:sldId xmlns:r="http://schemas.openxmlformats.org/officeDocument/2006/relationships" id="262" r:id="Rb6675ba0e9bb4435"/>
    <p:sldId xmlns:r="http://schemas.openxmlformats.org/officeDocument/2006/relationships" id="263" r:id="R5dfc96945fc3407c"/>
    <p:sldId xmlns:r="http://schemas.openxmlformats.org/officeDocument/2006/relationships" id="264" r:id="Rf75a0136cefc409b"/>
    <p:sldId xmlns:r="http://schemas.openxmlformats.org/officeDocument/2006/relationships" id="265" r:id="R5c715b94de824f6b"/>
    <p:sldId xmlns:r="http://schemas.openxmlformats.org/officeDocument/2006/relationships" id="266" r:id="R57b160198ff94050"/>
    <p:sldId xmlns:r="http://schemas.openxmlformats.org/officeDocument/2006/relationships" id="267" r:id="Rb60e3a73805a4a6e"/>
    <p:sldId xmlns:r="http://schemas.openxmlformats.org/officeDocument/2006/relationships" id="268" r:id="R3e793c166e2041c2"/>
    <p:sldId xmlns:r="http://schemas.openxmlformats.org/officeDocument/2006/relationships" id="269" r:id="R49986f2a70024901"/>
    <p:sldId xmlns:r="http://schemas.openxmlformats.org/officeDocument/2006/relationships" id="270" r:id="Rdab4a11250f84359"/>
    <p:sldId xmlns:r="http://schemas.openxmlformats.org/officeDocument/2006/relationships" id="271" r:id="R637bc94f07e6439d"/>
    <p:sldId xmlns:r="http://schemas.openxmlformats.org/officeDocument/2006/relationships" id="272" r:id="R0c105d01ff2146a7"/>
    <p:sldId xmlns:r="http://schemas.openxmlformats.org/officeDocument/2006/relationships" id="273" r:id="R085ca131d346402e"/>
    <p:sldId xmlns:r="http://schemas.openxmlformats.org/officeDocument/2006/relationships" id="274" r:id="Rdab4b640e57b4630"/>
    <p:sldId xmlns:r="http://schemas.openxmlformats.org/officeDocument/2006/relationships" id="275" r:id="R913e9f9417d948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c072b85f64672" /><Relationship Type="http://schemas.openxmlformats.org/officeDocument/2006/relationships/slideMaster" Target="/ppt/slideMasters/slideMaster1.xml" Id="R25e69270ed084612" /><Relationship Type="http://schemas.openxmlformats.org/officeDocument/2006/relationships/notesMaster" Target="/ppt/notesMasters/notesMaster1.xml" Id="R1d74e7e6e49b4c34" /><Relationship Type="http://schemas.openxmlformats.org/officeDocument/2006/relationships/presProps" Target="/ppt/presProps.xml" Id="Rf50d85adb79b4bfc" /><Relationship Type="http://schemas.openxmlformats.org/officeDocument/2006/relationships/viewProps" Target="/ppt/viewProps.xml" Id="R45ad840def374417" /><Relationship Type="http://schemas.openxmlformats.org/officeDocument/2006/relationships/tableStyles" Target="/ppt/tableStyles.xml" Id="R5c9f532d2dc749bf" /><Relationship Type="http://schemas.openxmlformats.org/officeDocument/2006/relationships/slide" Target="/ppt/slides/slide1.xml" Id="R1914d4a71b634980" /><Relationship Type="http://schemas.openxmlformats.org/officeDocument/2006/relationships/slide" Target="/ppt/slides/slide2.xml" Id="Rcb49408fac3b4bf0" /><Relationship Type="http://schemas.openxmlformats.org/officeDocument/2006/relationships/slide" Target="/ppt/slides/slide3.xml" Id="Rfc52247ee71445de" /><Relationship Type="http://schemas.openxmlformats.org/officeDocument/2006/relationships/slide" Target="/ppt/slides/slide4.xml" Id="R9b351bf9792b4ba0" /><Relationship Type="http://schemas.openxmlformats.org/officeDocument/2006/relationships/slide" Target="/ppt/slides/slide5.xml" Id="Rab72a8e1f7324d30" /><Relationship Type="http://schemas.openxmlformats.org/officeDocument/2006/relationships/slide" Target="/ppt/slides/slide6.xml" Id="R350876ef555a442f" /><Relationship Type="http://schemas.openxmlformats.org/officeDocument/2006/relationships/slide" Target="/ppt/slides/slide7.xml" Id="Rb6675ba0e9bb4435" /><Relationship Type="http://schemas.openxmlformats.org/officeDocument/2006/relationships/slide" Target="/ppt/slides/slide8.xml" Id="R5dfc96945fc3407c" /><Relationship Type="http://schemas.openxmlformats.org/officeDocument/2006/relationships/slide" Target="/ppt/slides/slide9.xml" Id="Rf75a0136cefc409b" /><Relationship Type="http://schemas.openxmlformats.org/officeDocument/2006/relationships/slide" Target="/ppt/slides/slide10.xml" Id="R5c715b94de824f6b" /><Relationship Type="http://schemas.openxmlformats.org/officeDocument/2006/relationships/slide" Target="/ppt/slides/slide11.xml" Id="R57b160198ff94050" /><Relationship Type="http://schemas.openxmlformats.org/officeDocument/2006/relationships/slide" Target="/ppt/slides/slide12.xml" Id="Rb60e3a73805a4a6e" /><Relationship Type="http://schemas.openxmlformats.org/officeDocument/2006/relationships/slide" Target="/ppt/slides/slide13.xml" Id="R3e793c166e2041c2" /><Relationship Type="http://schemas.openxmlformats.org/officeDocument/2006/relationships/slide" Target="/ppt/slides/slide14.xml" Id="R49986f2a70024901" /><Relationship Type="http://schemas.openxmlformats.org/officeDocument/2006/relationships/slide" Target="/ppt/slides/slide15.xml" Id="Rdab4a11250f84359" /><Relationship Type="http://schemas.openxmlformats.org/officeDocument/2006/relationships/slide" Target="/ppt/slides/slide16.xml" Id="R637bc94f07e6439d" /><Relationship Type="http://schemas.openxmlformats.org/officeDocument/2006/relationships/slide" Target="/ppt/slides/slide17.xml" Id="R0c105d01ff2146a7" /><Relationship Type="http://schemas.openxmlformats.org/officeDocument/2006/relationships/slide" Target="/ppt/slides/slide18.xml" Id="R085ca131d346402e" /><Relationship Type="http://schemas.openxmlformats.org/officeDocument/2006/relationships/slide" Target="/ppt/slides/slide19.xml" Id="Rdab4b640e57b4630" /><Relationship Type="http://schemas.openxmlformats.org/officeDocument/2006/relationships/slide" Target="/ppt/slides/slide20.xml" Id="R913e9f9417d9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1da665b4b2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50378d8a34644" /><Relationship Type="http://schemas.openxmlformats.org/officeDocument/2006/relationships/notesMaster" Target="/ppt/notesMasters/notesMaster1.xml" Id="R867bd6ae80fc4d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efdd19947f4b54" /><Relationship Type="http://schemas.openxmlformats.org/officeDocument/2006/relationships/notesMaster" Target="/ppt/notesMasters/notesMaster1.xml" Id="Rdef58b33c8ad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7007fc9a04825" /><Relationship Type="http://schemas.openxmlformats.org/officeDocument/2006/relationships/notesMaster" Target="/ppt/notesMasters/notesMaster1.xml" Id="R0f8880bfe5e343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fed0f67084325" /><Relationship Type="http://schemas.openxmlformats.org/officeDocument/2006/relationships/notesMaster" Target="/ppt/notesMasters/notesMaster1.xml" Id="R1af852cfeea241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d14d13cba4f0d" /><Relationship Type="http://schemas.openxmlformats.org/officeDocument/2006/relationships/notesMaster" Target="/ppt/notesMasters/notesMaster1.xml" Id="R8a619ecab9eb4d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af5c81cb7142a1" /><Relationship Type="http://schemas.openxmlformats.org/officeDocument/2006/relationships/notesMaster" Target="/ppt/notesMasters/notesMaster1.xml" Id="R55fb79a34e42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56b30187e4ecc" /><Relationship Type="http://schemas.openxmlformats.org/officeDocument/2006/relationships/notesMaster" Target="/ppt/notesMasters/notesMaster1.xml" Id="Rcb01154d674240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727347ae134b38" /><Relationship Type="http://schemas.openxmlformats.org/officeDocument/2006/relationships/notesMaster" Target="/ppt/notesMasters/notesMaster1.xml" Id="Rb2473dd3abff4f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2616e9f42a4e99" /><Relationship Type="http://schemas.openxmlformats.org/officeDocument/2006/relationships/notesMaster" Target="/ppt/notesMasters/notesMaster1.xml" Id="R6fffa52dfe1d4a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9e02a97761407f" /><Relationship Type="http://schemas.openxmlformats.org/officeDocument/2006/relationships/notesMaster" Target="/ppt/notesMasters/notesMaster1.xml" Id="Re74a69c3ecab46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94e1091b50425d" /><Relationship Type="http://schemas.openxmlformats.org/officeDocument/2006/relationships/notesMaster" Target="/ppt/notesMasters/notesMaster1.xml" Id="R6de0f4a321e94d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c005fb37174f37" /><Relationship Type="http://schemas.openxmlformats.org/officeDocument/2006/relationships/notesMaster" Target="/ppt/notesMasters/notesMaster1.xml" Id="R116c70b0d8534e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943d8199464771" /><Relationship Type="http://schemas.openxmlformats.org/officeDocument/2006/relationships/notesMaster" Target="/ppt/notesMasters/notesMaster1.xml" Id="Rd5fd86a273a54c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bfed446ced4fc0" /><Relationship Type="http://schemas.openxmlformats.org/officeDocument/2006/relationships/notesMaster" Target="/ppt/notesMasters/notesMaster1.xml" Id="R25fbda428a6444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a7e1fea5044823" /><Relationship Type="http://schemas.openxmlformats.org/officeDocument/2006/relationships/notesMaster" Target="/ppt/notesMasters/notesMaster1.xml" Id="R3c111d7be63142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5d07eecbc04dc1" /><Relationship Type="http://schemas.openxmlformats.org/officeDocument/2006/relationships/notesMaster" Target="/ppt/notesMasters/notesMaster1.xml" Id="R8a78e92e2a4649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5e629a27ad4b41" /><Relationship Type="http://schemas.openxmlformats.org/officeDocument/2006/relationships/notesMaster" Target="/ppt/notesMasters/notesMaster1.xml" Id="Ra48c226a712546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7285411c544b97" /><Relationship Type="http://schemas.openxmlformats.org/officeDocument/2006/relationships/notesMaster" Target="/ppt/notesMasters/notesMaster1.xml" Id="Rd604a719cbec48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093257cf1f400d" /><Relationship Type="http://schemas.openxmlformats.org/officeDocument/2006/relationships/notesMaster" Target="/ppt/notesMasters/notesMaster1.xml" Id="R78342bafacc548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723d6444644c11" /><Relationship Type="http://schemas.openxmlformats.org/officeDocument/2006/relationships/notesMaster" Target="/ppt/notesMasters/notesMaster1.xml" Id="R989fc4e97e0c45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45acbec9c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ed46804ffd4e08" /><Relationship Type="http://schemas.openxmlformats.org/officeDocument/2006/relationships/slideLayout" Target="/ppt/slideLayouts/slideLayout1.xml" Id="Rddea20107e7e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a20107e7e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45cf13a9144e1" /><Relationship Type="http://schemas.openxmlformats.org/officeDocument/2006/relationships/notesSlide" Target="/ppt/notesSlides/notesSlide1.xml" Id="R7f67253aedb3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e580ae2684474" /><Relationship Type="http://schemas.openxmlformats.org/officeDocument/2006/relationships/notesSlide" Target="/ppt/notesSlides/notesSlide2.xml" Id="Ra758cb4f9b3144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f5d482aeb44f7" /><Relationship Type="http://schemas.openxmlformats.org/officeDocument/2006/relationships/notesSlide" Target="/ppt/notesSlides/notesSlide3.xml" Id="R1e231875443244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68919862948c0" /><Relationship Type="http://schemas.openxmlformats.org/officeDocument/2006/relationships/notesSlide" Target="/ppt/notesSlides/notesSlide4.xml" Id="Rb47ac343b72a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8fca666914665" /><Relationship Type="http://schemas.openxmlformats.org/officeDocument/2006/relationships/notesSlide" Target="/ppt/notesSlides/notesSlide5.xml" Id="R66923a2f4a8845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6983bc2714207" /><Relationship Type="http://schemas.openxmlformats.org/officeDocument/2006/relationships/notesSlide" Target="/ppt/notesSlides/notesSlide6.xml" Id="R144a6a5a40b74d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19a14c70242c8" /><Relationship Type="http://schemas.openxmlformats.org/officeDocument/2006/relationships/notesSlide" Target="/ppt/notesSlides/notesSlide7.xml" Id="Ra9be9cfaf56a47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8b868874f437f" /><Relationship Type="http://schemas.openxmlformats.org/officeDocument/2006/relationships/notesSlide" Target="/ppt/notesSlides/notesSlide8.xml" Id="Ra1d38b43a604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0aa7ea3a457a" /><Relationship Type="http://schemas.openxmlformats.org/officeDocument/2006/relationships/notesSlide" Target="/ppt/notesSlides/notesSlide9.xml" Id="Rec67bb181da241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16a30a0104c5f" /><Relationship Type="http://schemas.openxmlformats.org/officeDocument/2006/relationships/notesSlide" Target="/ppt/notesSlides/notesSlide10.xml" Id="R15b251b3e5f4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971d92d194144" /><Relationship Type="http://schemas.openxmlformats.org/officeDocument/2006/relationships/notesSlide" Target="/ppt/notesSlides/notesSlide11.xml" Id="R3d2e2dc5fa134d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48565fe554b52" /><Relationship Type="http://schemas.openxmlformats.org/officeDocument/2006/relationships/notesSlide" Target="/ppt/notesSlides/notesSlide12.xml" Id="Re0dea03716934c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19571d68b4e51" /><Relationship Type="http://schemas.openxmlformats.org/officeDocument/2006/relationships/notesSlide" Target="/ppt/notesSlides/notesSlide13.xml" Id="Rd7c459795d6141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75a15ee0d4ec4" /><Relationship Type="http://schemas.openxmlformats.org/officeDocument/2006/relationships/notesSlide" Target="/ppt/notesSlides/notesSlide14.xml" Id="Ra3a065b97a574e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bf73f9e342be" /><Relationship Type="http://schemas.openxmlformats.org/officeDocument/2006/relationships/notesSlide" Target="/ppt/notesSlides/notesSlide15.xml" Id="Re8501ae7c2b240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64def0d014acd" /><Relationship Type="http://schemas.openxmlformats.org/officeDocument/2006/relationships/notesSlide" Target="/ppt/notesSlides/notesSlide16.xml" Id="Rd903eacb4a0a40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fd8454c9a46fd" /><Relationship Type="http://schemas.openxmlformats.org/officeDocument/2006/relationships/notesSlide" Target="/ppt/notesSlides/notesSlide17.xml" Id="R3e7599aac85445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5ecef6234c0e" /><Relationship Type="http://schemas.openxmlformats.org/officeDocument/2006/relationships/notesSlide" Target="/ppt/notesSlides/notesSlide18.xml" Id="R7fdf9897873049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cc7fc21f4525" /><Relationship Type="http://schemas.openxmlformats.org/officeDocument/2006/relationships/notesSlide" Target="/ppt/notesSlides/notesSlide19.xml" Id="Rc861efd6ac1f4b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637bcbdd54ce7" /><Relationship Type="http://schemas.openxmlformats.org/officeDocument/2006/relationships/notesSlide" Target="/ppt/notesSlides/notesSlide20.xml" Id="R250622f0caeb48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76865-D990-4D95-BCCC-9BC39937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8C2C9-36A0-43D4-8F28-110C483A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29AD6-7A59-419C-9189-D84BB5B2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549E2-7012-4A17-9FF4-6ADB7641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A8F56-D7F8-43A7-89DA-A672BD0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FC6E-99AC-4A18-99DF-A22BA1E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OWNER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0F255-0C5D-46E3-9DB9-F7567868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6D58B-5D21-4F2B-85A1-798CBFC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01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F8293-A94B-42CE-AF0B-1760BF8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C58F4-1EDE-4B91-BBE8-8014848B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E0E7F-26F1-45E4-8992-2B6168A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A45FC-93F8-4687-9DE1-1C40A3B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45933-1D99-40B3-AC63-ED4ECEC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066800"/>
            <a:ext cx="4286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41DAB-16C3-4F52-8DBD-F9B42DAF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5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6BDFD-B771-42D3-AF21-8DBE54FC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2343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8"/>
          </a:solidFill>
          <a:ln xmlns:a="http://schemas.openxmlformats.org/drawingml/2006/main" w="19050">
            <a:solidFill>
              <a:srgbClr val="42C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F795D-9D04-410F-9FA1-4B756016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DDCA1-5B12-4750-9311-3CC14F07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2FF99-603F-4DB4-9F17-630F58A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ALLSEASON x 2STACK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61D72-FC0B-44DC-8D19-31C2DF16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Chris, this is the revenue machine we would build first.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A4603-958F-4E94-81ED-9028814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Owned website. Native roof quote engine. Day-zero lead handling. Source-level reporting.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B9B7-21EE-4381-A320-F69BB8CF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EB290-CDDD-4BFA-B4CD-802E91F6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8EF52-E3D0-426F-957A-76C89FDC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Built for profitable roofing + solar demand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27614-B1B9-4092-80B4-E99DE763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AC619-825A-4645-BF77-6056D55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8ABA8-E9A7-42AE-B4F9-96306DA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72025"/>
            <a:ext cx="2495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Designed to survive the rebrand</a:t>
            </a:r>
          </a:p>
        </p:txBody>
      </p:sp>
    </p:spTree>
    <p:extLst>
      <p:ext uri="{BB962C8B-B14F-4D97-AF65-F5344CB8AC3E}">
        <p14:creationId xmlns:p14="http://schemas.microsoft.com/office/powerpoint/2010/main" val="560462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6B5D5-B19A-4564-A63E-88AEAAF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7ADC3-D6C7-45D9-805B-4D2C068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9B01-ED7B-49F6-890D-8EF1C3D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82EB9-C3DD-4D23-BAC7-5EE7EFF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D5A37-6D8A-44DA-B2F0-9635BDD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4B20B-2E82-4EBA-9981-5ED32AE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THE 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8FFAD-3F4C-41E5-A078-443004D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C6743-FB28-4835-975D-B03FE4BA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02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C7904-BBD6-42C3-82E0-EFF8784F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0A22D-48B8-4A14-A074-310759F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33029-D700-4C82-91DA-A3364D42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90252-0539-428F-A99A-A1A5ADD9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6C28C-405F-4003-B526-1C1F0C50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You do not have a lead problem. You have a control problem.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618AE-32ED-4058-96E4-7528035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pieces are there. The issue is that paid leads, scripts, follow-up, website capture, and reporting are not moving as one operating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632E3-EA4F-4F1D-94FB-07D8D52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B8697-BE90-45F2-8A65-41FDCA89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25CF3-A3EB-48D8-9DF7-25D683DF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Leads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AE2AB-C67A-4A91-82E8-DBB6EB3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Too much spend builds other people's brands instead of AllSeason's.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D18CF-8D1D-4A7E-A0A8-9C3A23F3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6F699-958C-42E0-9C9B-7C5C1A3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10948-D55D-45F3-A405-9FDACA1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First touch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844CB-0371-47EB-884E-5471BE8A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52875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High-intent web leads are being handled like cold calls.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690F8-A79F-4B49-B8EB-719FBF8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EF53A-714A-4D05-8563-95B53164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BB8E24-3968-4C3C-894B-90BA6024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546F26-AAC3-4D7A-9D91-FE239CDF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52875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Phone, SMS, email, Hatch, CRM, and manager cleanup are loosely stitched.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E34CC-16E2-4367-84B5-AAB6A3B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CF8CE-DDDD-44F2-8C1E-E3C284E1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7B315-5C1D-4868-8BB2-5555DD5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Visibility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5700E-A826-4DDF-89B6-6A4A15D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52875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You can see source, but not always source-to-margin decisions fast enough.</a:t>
            </a:r>
          </a:p>
        </p:txBody>
      </p:sp>
    </p:spTree>
    <p:extLst>
      <p:ext uri="{BB962C8B-B14F-4D97-AF65-F5344CB8AC3E}">
        <p14:creationId xmlns:p14="http://schemas.microsoft.com/office/powerpoint/2010/main" val="10701645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5B121-883F-4863-934B-371302CD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84451-35CC-477C-AA3C-BDD5DBD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B5AA5-83CB-4C25-BCC2-614C156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28433-80EC-4FF9-AA88-68CF173F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5A693-EE70-4C74-8507-1D956E0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2CADF-3877-4C8B-A76E-067D91FC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993EE-12F0-4D23-86DD-FC2B7F2A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D4995-5D97-4E18-A247-A0DD59C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03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3EB09-99CE-4CF9-A9E1-E9189799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8E62C-3D30-4513-9597-DAD0D2A1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5FCA8-4F8B-4C76-B4A2-5EC33E40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1F10C-1C23-4991-B285-D64314F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3E8D9-DA32-496F-901C-125DFD24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roof number only works if acquisition cost stays disciplined.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DBB5C-FA7E-49D6-B3D4-A565C9C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A $12K average roof cannot carry a $3K job acquisition cost and still be the kind of business you want to 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D7DC4-AE64-47D4-A427-726AF17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0B4B5-55F5-4A19-9489-A648DDF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$12K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AC82E-F782-47C3-9603-A5605BB6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Average roof ticket discussed on the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FF43B-4A23-44E2-B00F-99DC4F4D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86125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9FAFF-1F45-4412-A469-B718A6D3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9567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30%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B0536-1FC7-40C8-A174-4C94ABB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Gross room before office and marketing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9B793-B12A-4D69-A61D-7F4C6A08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309EF-7CB5-408C-89AA-49C3CB47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9567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6B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6B57"/>
                </a:solidFill>
                <a:latin typeface="Aptos Display"/>
                <a:ea typeface="Aptos Display"/>
                <a:cs typeface="Aptos Display"/>
              </a:rPr>
              <a:t>$3K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7F29F-F5DB-4557-95A1-6947D15B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00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A job cost that breaks the roof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196DD-8321-4556-BE67-5ABF4ADE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2324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8A6B1-869F-4D1B-AAC1-2D317F9B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9567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&lt;$1K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55D8F-F7E0-4EF8-ACBA-E454145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00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operating target for roofing CAC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29AE61-0E86-4EC9-82A7-04167AD9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operating rule: do not buy volume that makes the job worse after it closes.</a:t>
            </a:r>
          </a:p>
        </p:txBody>
      </p:sp>
    </p:spTree>
    <p:extLst>
      <p:ext uri="{BB962C8B-B14F-4D97-AF65-F5344CB8AC3E}">
        <p14:creationId xmlns:p14="http://schemas.microsoft.com/office/powerpoint/2010/main" val="8945728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F69C8-74BD-4C5C-A3C1-E71080A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0C08A-47DC-473D-9359-946D3083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D26D2-7587-42BA-B89C-086E803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97E9-B492-444E-B99E-AB4301A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38E96-D3C2-4F05-96E7-E2048E7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D5A90-504E-4DC6-80F3-C2EAA1C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CURRENT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D001C-74E9-48BC-94AB-72C765C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71E1B-0476-4BFD-B816-282B3675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04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2B699-7B21-4F24-A128-343D68A2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9F9D8-CD77-43BB-B43D-179AD41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62B7E-7E55-42FF-9EE9-E6BA3222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80A89-23D2-49C8-9F48-3AB5C9FC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BCBDB-8062-404E-A5B9-3A39630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stack has useful tools, but the handoffs are where money leaks.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2D6E3-94AD-4F82-82EA-1D3DAD1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This is not about throwing everything away. It is about putting one owner-grade system over the parts that already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58EC0-CD71-4DC5-97EA-2A5147DF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6A816-EF43-4A1D-840C-DBA3CA4C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C9F4D-1E13-4375-BDD3-A7760EA7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Lead vendors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A6D6B-916B-4F86-A242-CC8B21B1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Shared or owned source context starts here.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6C4FA-E789-4DC8-96E1-F7ECFF9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B5F67-E336-418E-876A-3B68C9C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8558F-1955-46DF-9E20-4B9DE2D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05BD0-F3BC-42AD-9FE9-ADF125E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8047F-72C2-4613-A72C-E393E79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ActiveProspect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37E5E-F628-47AA-8519-3D53B12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Useful, but not enough on its own.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5E405-7756-4AFD-9957-85E6238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CBCDE-6D53-45B6-BE84-8FCF6FCE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CDE2F-928D-4B67-9EB8-0C61E89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1A799-EEAB-4622-8190-BAE1E2DC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D1D93-21BF-4939-98A2-B0F8822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CRM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C185F-510B-4044-8301-A0BA0C0D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Useful, but not enough on its own.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4C51D-3C19-4D43-AF05-87E0B2E3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C0379-EA28-4228-BE1A-E3DA9A5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11508-AB9E-4769-B288-A158115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1DE76F-45DA-42B3-955E-18846CDE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AB5E56-7177-4CE2-9A7A-93DECACA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602AA-E28A-4D00-B19C-BA97C308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Useful, but not enough on its own.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018AC-A48A-4F70-B662-AAE453D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7DF1A0-68E6-4D12-AC8D-5780E0F4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D0966B-3771-4EBA-9888-749199B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9F44FC-0E38-4924-B085-6B23E049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66CCA8-AB54-4FA0-98BE-6CDBA3A5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Hatch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3E9990-5966-4EC9-ACAB-5E6D34BD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Useful, but not enough on its own.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FB8240-DE1A-4275-A9E8-FFE04D9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33FF2-33D2-46E2-A449-7EC6759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FDF28E-B8B6-4B8B-8E3B-BEC189FE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AFD1E9-9D25-4A4F-8C45-066FFC67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71E7A5-4D16-423F-8CAC-5460DAA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5BE577-76AD-4F13-868D-6940A9D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Useful, but not enough on its own.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0E4B07-ADB4-4712-B290-88078B32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948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E50226-FA0A-424C-883C-B815F11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What we add: one operating layer that controls context, routing, scripts, sequence, and source-to-margin reporting.</a:t>
            </a:r>
          </a:p>
        </p:txBody>
      </p:sp>
    </p:spTree>
    <p:extLst>
      <p:ext uri="{BB962C8B-B14F-4D97-AF65-F5344CB8AC3E}">
        <p14:creationId xmlns:p14="http://schemas.microsoft.com/office/powerpoint/2010/main" val="1194104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5B51F-F08D-404D-B7E0-CFC47816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307A0-965A-4770-9036-090D8C47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73B96-5F4A-4C77-AEAA-8CD78E3F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3EAC-9F7D-4041-886B-3EFA8136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8A09-CE59-4CA2-B7DF-D3332143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0AD5E-0828-4968-8F23-0FF8006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445C0-5FEC-4166-86E8-02131B9C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A9855-C43D-46E6-865E-69B03F6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05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DC620-51D4-4290-A911-206AB706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FEE74-857F-45CE-A907-E3CD015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62B48-4251-4568-8296-5840A37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08547-BD8F-4884-ADC4-3174C0D7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D5CBD-7DCF-455C-8054-AE82316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goal is not more volume at any cost. It is owned, profitable volume.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1841C-C7B7-47C9-8928-D8DEE6E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path back toward $25M needs brand equity, first-party demand, repeatable handling, and reporting a buyer can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77A1D-2684-48C4-B5A0-191FF76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A09B3-FC71-4DA3-901C-C539E58F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9CAFC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9CAFC1"/>
                </a:solidFill>
                <a:latin typeface="Aptos Display"/>
                <a:ea typeface="Aptos Display"/>
                <a:cs typeface="Aptos Display"/>
              </a:rPr>
              <a:t>$10M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0D5C3-CCA3-40E3-870D-608D173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Rough current revenue base discussed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63F2-F358-492C-A269-C85F9B60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DA49B-E773-4C6D-B9D6-64DDF2A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24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$25M+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1182F-F776-46CD-AB0B-F982E79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386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Near-term value story to rebuild toward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9FE89-68BD-492C-BE2E-FEBE5EA4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253A9-51F6-450A-94DB-EDF1627C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5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E04DC-16AC-4C84-B25B-F1D39F67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386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License / footprint advantage already exists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436BF-E67E-4DE4-8380-B398358B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2362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01511-44F4-4765-8B27-C6B8F967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PE-ready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8490E-6F64-4A3C-87E0-DD5F853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3860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Clean brand, owned demand, accountable numbers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5B1BB-6F9E-4886-8E86-0D22616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This is an asset build. The website and quote engine should make the company worth more, not just generate this month's leads.</a:t>
            </a:r>
          </a:p>
        </p:txBody>
      </p:sp>
    </p:spTree>
    <p:extLst>
      <p:ext uri="{BB962C8B-B14F-4D97-AF65-F5344CB8AC3E}">
        <p14:creationId xmlns:p14="http://schemas.microsoft.com/office/powerpoint/2010/main" val="1710009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54884-E3C2-4B35-AD49-4B06274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7C68-6D63-4672-B1F2-FB8F8AE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1BB53-5ECD-4DBF-A517-7F5D7510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6584C-B018-41E5-BD61-EAC814CA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AD36B-43CA-45CC-A677-1638CDF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0CFE4-057E-40E9-882C-DB95BD0F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B3A4A-43A0-4AC2-91EA-445D1F6E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4956D-7D28-4FB0-ABEC-550BF17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06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E9E2E-9866-4C39-B4D3-5598CFA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6AAA2-B329-40E2-ADFD-3C3405C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0A2E3-2513-4477-AF6E-19DCD83C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A9F13-0247-42BB-AD66-AF50686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648C1-AF68-4224-B702-F48360C0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191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website is the control point for profitable demand.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5AB8C-17B8-47E5-9606-75E4537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We are not rebuilding pages to make the brand look newer. We are building the place where AllSeason owns the lead, captures context, and starts the sales process correctly.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B821C-B638-45BD-AACA-76E91C9C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23950"/>
            <a:ext cx="2362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D19B1-5677-4331-BFE5-1979BEB3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90650"/>
            <a:ext cx="1638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Asset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33D65-A767-4479-A3D3-CE9FC2C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once. Operate weekly. Rebrand without starting over.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DBFA4-201C-4A4D-8276-4CB315D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E3B57-1495-4117-B1E5-F53257C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56F42-CB01-4DE0-B03B-75A1A739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1. OWNER IMPRESSION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B2D47-2182-4DB9-80AC-58F6640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438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site has to make Chris look like the established operator in the room before a homeowner compares price.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A6C9E-7130-4815-BE43-52F1993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08DF7-DAE5-4F36-9AB5-4E821279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7955D-C176-42F4-8503-C4CE62A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2. QUALIFIED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5C6AE-CA59-44BC-8D24-AB0CBE9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2438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Every main path pushes toward quote, call, financing, warranty, or solar-readiness context - not a generic contact form.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B9144-EBBF-419F-A5B4-CB0BB99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C5D4A-2CD9-4D81-86C2-507AF156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35D0C-FBE8-403C-BBAF-93C2F777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243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3. CLEAN HANDOFF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4D2DD-F463-4817-B908-D16F045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2438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Lead source, page, quote answers, consent, and urgency pass into the revenue system before anyone picks up the phone.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F0D4E-893C-4FCC-A406-C506BD1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3BB54D-D955-4C2B-B186-54922BB2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4D9A8-B171-4430-A24E-42BACFD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05425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AllSeason launch brand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0CCCC-77AA-4913-81EB-15EA1BB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67841-58FD-4A10-AEF8-04166265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87F911-CCE1-4437-ADF6-018A81E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05425"/>
            <a:ext cx="18669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Rebrand-ready routes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C757AB-A313-4448-BBCF-FD52274B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1970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E00111-944F-4B2F-9EFB-B19800FE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197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E8BB7-481F-49E8-8C94-346251A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05425"/>
            <a:ext cx="1733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Owned quote engine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319A32-E3E9-44A1-9B19-E46223E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2152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881303-9260-4244-A8CD-5D4E919F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6859C9-9E8B-4B67-BBAA-01349CDA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05425"/>
            <a:ext cx="1924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Source-level reporting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7594E9-6266-4ECB-BB05-A0C0D462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old site is a brochure. The new site is part of operations.</a:t>
            </a:r>
          </a:p>
        </p:txBody>
      </p:sp>
    </p:spTree>
    <p:extLst>
      <p:ext uri="{BB962C8B-B14F-4D97-AF65-F5344CB8AC3E}">
        <p14:creationId xmlns:p14="http://schemas.microsoft.com/office/powerpoint/2010/main" val="11676324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4920F-A134-4290-BFA8-7AE0EE8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AA4E-0BF9-4014-9AE4-1885A71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BE5E7-DF21-4F4D-BF7C-412F810C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3C3C7-882A-4FBF-9A5A-3AA4887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0377A-6D91-42CA-83FF-59E45607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6E487-683A-4E7C-817D-629B57DB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QUOTE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5C8C2-1B64-4F27-A366-80CB84C5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B767D-C7EF-4933-BB41-B46ECE2B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07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37126-06C3-4EE3-8FCE-E7F05BA1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318BE-A04B-41E7-A00C-2D8B6DE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E3752-6805-4FD0-8262-F741A34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FFA89-CAA3-4391-9FD3-5F5EB9C8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A5045-5872-4ABE-BD38-4EAB63D9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roof quote tool replaces the broken InstaQuote idea with something you 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B952B-549F-4E67-96A2-558FE5E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Homeowner inputs create a useful estimate, but the real asset is the context your team gets before the first 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146FC-B11F-4C6F-9097-0DF66289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7422F-05D7-4644-93D1-F0A1C1D5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165B3-3EC6-48BD-BFB5-6ECB607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ZIP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C7F09-1BF1-43A8-9D8E-B7589D30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Confirm service area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65022-2F5B-4107-B87D-965E2591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1D5E8-FD5F-4BE1-978D-C95DCDE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71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1ECF-6926-4029-912C-A59A51E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AB632-7AF4-476E-A0AC-3448AA5F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C5B02-C3E0-41D3-9841-F12E567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857B1-F60C-41B6-8B6B-D0BA1DE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Size, condition, urgency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BB3F2-BB3E-43AF-87AA-87292640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65A61-57D4-4B3E-9000-76BEED87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42326-0193-461D-BE00-5B38E6AC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BF498-D68F-4AE3-BA23-B9B396C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5C147-F75B-44D3-AEDE-3FEEE91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290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RANGE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A40A8-5CC0-4F69-997B-F237F399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62375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Good / better / best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2A8A6-0CC4-4A35-8AEF-5B93B615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F5F064-FB24-4787-8E4D-92481D2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37B827-3D8C-4684-941C-1E6ED2E0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53A89-1564-46F8-875B-8C56BDBF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38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E7D03-805B-4187-A21E-45E94388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CONTACT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7F83E-BB95-4B92-A9A5-08B5744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62375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Consent + attribution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E1412-67EB-4D58-A308-3E3D4BB8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E1EE12-EDE9-44A3-9AB7-65BE639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890EE2-C107-4FD1-B984-2574112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E5139-C029-4605-860B-B621BF2E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740509-30B1-4356-A32D-3D9BD29E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4DDB9E-AD62-4740-AE65-AB30643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62375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P0 preview queue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182E8B-A1A4-4FAF-B129-52243AC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homeowner sees a range. Your team gets the reason to call now.</a:t>
            </a:r>
          </a:p>
        </p:txBody>
      </p:sp>
    </p:spTree>
    <p:extLst>
      <p:ext uri="{BB962C8B-B14F-4D97-AF65-F5344CB8AC3E}">
        <p14:creationId xmlns:p14="http://schemas.microsoft.com/office/powerpoint/2010/main" val="8350464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A6C1C-8528-47B5-A078-7DF993D5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7881C-62CD-4BF4-A0B1-569FBFC1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A273A-ED43-4B58-A96B-758E7A2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F9F7F-FC61-4BD7-A214-B501959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22DE-D3F4-411F-AFB7-526B942F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69CB4-39BB-4706-B6CB-EE3779F9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DAY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60A63-76FA-4ABE-945C-2C8C669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5A147-53FD-4CD2-BDEC-0C16766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08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5804B-477C-4334-9A67-0B6EAB05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78E0E-87CE-45FB-9894-9B9D33F8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4FE0B-AD56-43CF-A2D5-5DB44FAF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89B4E-6113-4426-9440-B23648C2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A014E-CC1C-444C-B0F4-534200C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A quote request should create a prepared call, not another blind dial.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485D0-4768-44DE-B42C-F312727C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rep sees source, urgency, roof details, warranty angle, solar-readiness interest, and the exact opener to 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7C963-98AA-4863-89B5-90E29BF1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895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62106-F94F-4E6F-8232-4294334A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3AF56-BFB1-4886-A1E2-4F3B5BF2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Rep 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13DA6-3DE1-4AFA-B1D7-F420796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2495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Source, ad, quote answers, urgency, financing cue, warranty angle, and last touch shown before dialing.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3BD7B-D405-4E93-A36D-E36A89C1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2895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1F743-2CF3-41C5-9CC7-EEF3A57A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194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D41D6-4E8F-4F36-903D-1E4E5B2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9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Opener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C03C7-F64A-4F22-928F-A914C8B5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43325"/>
            <a:ext cx="2495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"I saw you ran a roof quote on AllSeason. You marked an active leak and looked at six-month financing."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7F92E-67DD-4644-B616-22069E5C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2895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63A2A-2EE5-4045-A50C-19C768F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F474A1-1EB7-4EF9-A1FC-5A7900C8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Sequence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34F24-FF1B-4376-BDA7-57E4D08F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2495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Call, SMS, email, voicemail, manager cleanup, and AI-assisted nurture after the live window.</a:t>
            </a:r>
          </a:p>
        </p:txBody>
      </p:sp>
    </p:spTree>
    <p:extLst>
      <p:ext uri="{BB962C8B-B14F-4D97-AF65-F5344CB8AC3E}">
        <p14:creationId xmlns:p14="http://schemas.microsoft.com/office/powerpoint/2010/main" val="11653668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EE2E8-BD5A-4A36-96A4-4987B0C8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C18F9-D8DC-40B9-B270-7C734DC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592D2-C932-4992-8F16-38D3104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78F0-7687-4440-BA3B-D1C1E39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12B67-38A2-496C-AE7D-3621FC88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91099-1CC6-4520-8B58-DEE42668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11F2B-E48A-4892-A37E-C3B736B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C232D-94AF-46E5-8832-3585184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09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F8FDA-5702-4F0F-B8B2-7859951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0AE58-3A7C-4B1A-9652-EE6B825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F1078-D065-422E-A107-D611493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25603-3BB7-439C-AE85-7C5BEAFD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85410-813D-45CF-AC95-1BE6B1DF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Attribution has to answer owner questions, not just marketing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69CF3-92B1-4087-B53F-373D1F5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Which source produces appointments? Which appointments demo? Which demos sell? Which jobs protect margin?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836A9-489C-423B-9B8D-8C0A0389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C2538-FBC7-4DE2-B1D9-7585CE38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1E6A5-D34F-4290-BF31-7C169B5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051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606D6-7C80-42CB-9C1F-C17E5EE9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480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473F2-4745-44CE-AD74-35F2DFF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425B8-4359-4815-825D-627979F5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480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Contact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D045B-9BF7-450B-922C-60238F52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A2076-6C39-4CDC-B002-0BB2D93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480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17109-965B-46D4-B57F-000AD6F9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51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8F57A-7096-4F35-95CF-1533BFE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480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061C3-C1DC-497C-B53A-044BA11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AB700-7D3A-4027-A4C5-2A9852BC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Sold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5D8A4-3184-4153-B696-8257D4B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7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ECDFB-AC66-4E15-8B64-FD0B85B2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CAC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63BA0-9165-41C3-80F2-7857F3C8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20AF5-7268-4609-B253-905537E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Roof Quote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855AE-8DAB-49B6-A188-BA3FFE24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EEE11-2866-4900-9203-3B7B6CD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8583CF-61C5-4899-9C7E-C3B3EAA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B3A20-9185-4CDC-BA8D-5B7C9F01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623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BF79FA-94EC-4A01-9B6E-B5E7496B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19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56FD3E-6638-4756-BE18-ACBE5FD9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BFE52-32CE-48B6-9B4C-3336E9A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6F98D0-9B9B-4468-A9BA-F9835DDA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D6187-453B-4336-A422-75BBEC7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B628CF-600F-4394-A337-4ECB9DE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623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9CA00-B377-4CAB-8874-5526F9B6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6849E4-9460-4875-9350-361FE7B7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Owner 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EF4811-44FA-4D05-AB48-F17D15E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0E7658-2889-4550-96FF-65CBA5B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Meta Solar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260047-B1EE-4B9E-A425-786F695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33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62AF67-E27C-4A60-9231-83CA59B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767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4B05DD-74FD-42F1-93B8-2523C6D6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338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5D8108-4E2B-4188-92AF-8764AEB7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7672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TBD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3901EF-8511-4829-BFFB-870949D1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C8E57B-C623-47D2-AD68-D74F98C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767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TBD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826E7F-FADA-472F-98E0-196CD3A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33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7B08EF-290A-4424-AF55-B6E6B630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767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TBD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0FA070-D152-41A2-8B45-FEFA7F6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68F41F-095F-4578-BD2E-5028280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767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TBD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B7DDBA-A4C1-45CF-BB00-72D5ED12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338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E2EE86-6DF8-4401-9F07-351CD304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7672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0CBF60-0C41-4E07-9C32-A52C58E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91BD55-FEED-444B-9A62-5C59E0AF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Shared lead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F7618F-6A96-447C-9560-0F69FA1A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48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F77FFA-8F26-4E52-B536-61596E11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910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099480-D11E-4618-B96C-71D5415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482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C7755C-B2C0-4305-86C4-A5551624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1009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Varies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E0FCD5-BB0D-42C8-9C4F-982A8FC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48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C10BB9-EF4E-4326-979F-D577917E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910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Varies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518AC6-1A8B-4D1F-8AAC-394AC0C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48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6230F5-D5EF-441A-8623-E664511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910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Varies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06B476-A2C4-43F6-801E-3165B21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57A7D4-AD55-4FBF-98D6-1397789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9107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Varies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7514E1-E7D0-48A2-B21E-C5EE6941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6026CC-51FF-4D36-B5AE-7DE6CD9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91075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Cut / keep</a:t>
            </a:r>
          </a:p>
        </p:txBody>
      </p:sp>
    </p:spTree>
    <p:extLst>
      <p:ext uri="{BB962C8B-B14F-4D97-AF65-F5344CB8AC3E}">
        <p14:creationId xmlns:p14="http://schemas.microsoft.com/office/powerpoint/2010/main" val="11930312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F649A-3BF0-4482-A9AE-BAE886C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1D929-D061-43AD-8C10-5C977EA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38C1D-8C4D-415C-AB0E-87BB3012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7531-CE25-4FB5-9709-39E0B46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FE80E-D539-455C-9ABC-74D94A74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EA9B6-ABC2-4DC7-B845-FF2BD2E3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FIRST CAMPAIGN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7E49E-6C1B-4C21-9D37-40DFF99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B17F1-F25F-40CD-B015-65F69AE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10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3A4CB-6AB6-4AFB-9E00-EDFBAA91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E0778-49F5-4EFD-AA30-7780D6A4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16769-8C89-4002-9567-1B6951F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CFF25-5FAC-4486-99D4-691E4A1B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40146-41A9-45F0-8373-35D9C671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first campaign gives us a clean test of the whole machine.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648C5-C5C1-4FE0-B8A2-4C871D17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Fight The Power becomes more than a static Meta ad. It becomes a landing page, a route, a script, and a measurable revenue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FF9F2-2B9C-4491-A091-F8B83662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DAADE-1DF6-40A4-9550-65D641CB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D4F08-4B07-449D-B83E-DD1F1B5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Meta static 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BC959-1EF3-4E29-8E94-E868FD7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Fight The Power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1D8FE-9AB8-4143-A97C-12634170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25B69-596E-464E-83CD-0D181A0E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100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842F8-A916-495A-87CE-B8CA299C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F552-1B90-441A-99CA-F9B5721F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53789-7AB3-4327-B948-14E0D0A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Landing page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1C592-8A61-45C0-B4C2-E9AF952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Bill relief + roof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A8FBA-EF1A-4D21-91E1-3812080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069E54-5F3E-40FC-B040-CD8FA02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76E91-08A2-4DD8-A473-4ABEB909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5EE92-A394-45BF-B68E-556E190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38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1572E-3F87-4214-BD57-DE3ABED6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Capture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FE234-1FAB-4539-9113-7696E72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6237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Bill, roof, ZIP, consent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DD04E-16C7-4D59-8F8D-92CC103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8899A-B424-4B3C-AB83-721C1CA1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00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D83BB-29D1-4336-B5BF-B0F2E170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C152B-68AF-4259-87C9-F11743F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17F6B-4EF5-46E4-BF03-BFC99903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04E2EF-AC6F-4B94-8A8D-D8781B33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Solar / roof / battery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20F87-810D-421A-9A7F-3F9020B8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052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F3B113-88AD-489D-9CA6-42D0FAD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00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74B9BF-7473-411C-BA6F-134F8B9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1752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437578-D9A3-45D7-8A93-D7FC1047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9D6875-3DC5-4A82-879F-7F9167B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FD5F12-4534-466C-A09B-27F917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62375"/>
            <a:ext cx="1352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Cost to booked appointment</a:t>
            </a:r>
          </a:p>
        </p:txBody>
      </p:sp>
    </p:spTree>
    <p:extLst>
      <p:ext uri="{BB962C8B-B14F-4D97-AF65-F5344CB8AC3E}">
        <p14:creationId xmlns:p14="http://schemas.microsoft.com/office/powerpoint/2010/main" val="18596950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26A67-C5DD-4181-A28C-3F23F12C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A8265-9912-4125-B01F-BFEC555B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47449-5AF2-4B1E-88DE-AA712237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2A977-3854-4805-BC7C-77D9A62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82FFF-A0A5-4DE6-862C-41307604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9626-0CD4-4BD1-BAFA-759D4A5D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WHY THIS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C33A4-B167-4626-A190-23BB17E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3950D-5402-460A-803D-C63DC94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11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98E28-B403-44B0-832C-9BBCB565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10AEB-9352-4E87-A681-6A5E231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20D8C-0F36-4C54-B609-A4CE3F46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BB13F-A31D-44CF-A947-B4C97A8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CE2CD-3E43-4FDB-81D8-6E8B9DAB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A better CRM or dialer alone will not fix the operating problem.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11979-E15F-4085-B406-CA19D8D8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Tools can move calls and texts. They do not own your website, write your source-specific openers, protect CAC, or decide what gets scaled.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5E418-F1E2-4C4C-AC70-C6FEB35A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7624A-E68F-40F5-B482-CA78F12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E7025-EB47-4405-A195-365918C7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5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6B57"/>
                </a:solidFill>
                <a:latin typeface="Aptos Display"/>
                <a:ea typeface="Aptos Display"/>
                <a:cs typeface="Aptos Display"/>
              </a:rPr>
              <a:t>Generic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A764E-B4FB-4580-A51F-CC6269C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86175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Sells seats, sends calls, stores records, and leaves your team to decide what the lead actually means.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15B0D-7268-4B23-9173-BE57DD0B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D4089-23D6-4CD4-937B-3A12081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28278-7EFB-4252-96DE-91415BD0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Our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4C7C5-21ED-4F4C-99E2-D7F12D5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86175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Owns the front door, captures intent, routes by economics, gives the rep the opener, and measures the outcome.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D1D84-2C0C-45D7-BA44-8D732193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21D1E-A435-4067-ACEB-AAC4C61B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1145F-389A-4517-99FB-52015E2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Owner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95495-B220-43F7-A948-EEEDD3E5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Less waste, cleaner CAC, better brand asset, faster testing, and a story that is easier to diligence.</a:t>
            </a:r>
          </a:p>
        </p:txBody>
      </p:sp>
    </p:spTree>
    <p:extLst>
      <p:ext uri="{BB962C8B-B14F-4D97-AF65-F5344CB8AC3E}">
        <p14:creationId xmlns:p14="http://schemas.microsoft.com/office/powerpoint/2010/main" val="6070154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9CDC2-3A56-428E-AD02-B2983C0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FB243-1013-422F-9338-ED68D80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E7A51-8E8F-4CA3-91CE-5F0553F6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EE3DB-4C1F-4645-8F92-F343E42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464A3-42BB-4A53-83D3-21711E6B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1A9E7-D1A8-41EC-B108-D5CC39A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77309-DD9C-413D-8315-B6BC5B1F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F7FA1-AD15-478C-8575-D6920941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12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4B384-C247-4154-A200-31F85BE6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8CFDB-500B-488B-A4B5-D9C0946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152FE-AEE0-4A65-AF2D-2842D97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E1CD3-CF7A-47F1-81DD-A0CC082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8D5E9-307C-4BBA-99E8-226F6CD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technical build is intentionally simple, owned, and rebrand-ready.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1B4FA-BF19-492C-9EBC-65B244C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No WordPress patchwork. No browser-exposed intake secrets. No one-off landing pages that break the next rebrand.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148E-49CE-4245-B51B-002CFCFE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E7CB6-B3A9-457D-98A0-C4A20F2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7C494-0418-44E5-8053-7858965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813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Next.js 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5993F-7807-4B86-ACF5-392F2942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Pages, landing routes, quote 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9BB01-A0DB-408B-97AD-386F1EF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19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DD35C-85F2-4D7B-94B0-73374D40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242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F9684-F55D-46ED-A61F-FF4B64D4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D79B4-4F39-4965-90FC-23D7F09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B7110-6701-4D91-90EC-EA18D2F9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813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Server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EFF42-0899-4721-B3F0-733656CE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Private key stays server-side.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B2E00-4379-431C-BE5B-78A7D095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BA0C6-1887-4915-820A-1DA267D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242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0A21A-8B9F-47B6-B61C-60074C2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0875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DDBBB-9270-41FA-8095-960D852A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08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7A722-635E-4DC4-B23A-4FFA4D9F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813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Supabase intake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094AA-1E6C-4C4F-946E-ED1B701F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Events, estimates, lead context.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5C6F4-7295-4119-8321-E4412A9B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B41557-53FE-4E5F-84B9-D793A65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242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65F98-A3CF-45D6-8E6A-B933229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90875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A91415-1825-4A7E-984C-45BD7911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908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F454B7-4BE3-42BD-BC20-C99689DB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813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CRM / 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35360-23CE-446A-B6A8-9CD12549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Preview queue and source opener.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C19BCA-A63C-4D29-A0AA-2975FF4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9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6B669D-DE47-4EDD-A64E-0758A53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242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12B179-0AF0-4589-B204-337CE97A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90875"/>
            <a:ext cx="1600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210F1C-6FAF-477A-8238-10EEC75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90875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195E46-713D-4881-8D89-3CD5ECA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813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Owner dashboard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0D7718-18C2-4B9B-80AA-A3782C0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Source to CAC and close view.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5D9D6B-7F8B-40DC-BFCB-0D0A9C2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Rebrand work later becomes content, theme, redirects, and DNS - not a ground-up rebuild.</a:t>
            </a:r>
          </a:p>
        </p:txBody>
      </p:sp>
    </p:spTree>
    <p:extLst>
      <p:ext uri="{BB962C8B-B14F-4D97-AF65-F5344CB8AC3E}">
        <p14:creationId xmlns:p14="http://schemas.microsoft.com/office/powerpoint/2010/main" val="20551970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EABBA-FBEB-49A7-9938-47C50863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A5B3C-93F7-4F51-9243-3A8EBA2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CD5CA-148E-43A3-9EC1-74AF0EF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CAD89-D8EE-475A-93F1-F72AEEC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28BC7-1F32-4DF7-AA3E-AE934B26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E4CC2-B699-439B-9280-6C1FD90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MONTHLY OPERATING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A7B81-3BE7-4392-9359-E8BD8A81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420A0-74B0-4DCD-B79C-2FA16004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13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8CC50-991E-40CB-A92A-C43BE805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B3F42-85E0-4AC3-BC81-09129931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748DC-3B89-4845-8A58-55F5D1AD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C3134-0D6C-411E-AF9C-D1D6123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258BE-AA2E-4EC9-B4B8-261751D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retainer is not maintenance. It is operating the revenue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A3074-CA79-4B0A-AF8C-11B20235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We keep the site, quote flow, campaigns, routing, scripts, follow-up, and reporting improving week by week.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0CC9D-38E8-4227-9B69-CBB83372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228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CCB98-8C83-4981-B7D1-3E06ECB8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53109-CC02-4905-AD65-E3A45E42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Campaigns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8DABB-0A9C-4064-AD49-93BC54DD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Meta and landing tests tied to source economics.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C6191-E102-4311-947C-2894109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228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1AA14-3747-4D5F-9B5B-F07228B0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7AC83-4A07-471F-8A0A-87CF6B22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05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6C031-A7FB-4EA9-8270-15C73B00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38575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Quote flow, forms, calls, pages, offers, and proof.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6A0CE-5D52-46D4-BE98-EED8E286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2228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FDF6F-18EB-4754-8FC6-1CEE3C84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E3C39-78D9-4210-B26F-53831243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Handling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15DD4-6D35-4F12-AF3F-30D39B1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38575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Scripts, sequence, routing, speed-to-lead QA.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90CC1-07C4-469F-8751-BBA36B0D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22288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838B3-6EE5-4271-956B-2894CDC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14700"/>
            <a:ext cx="476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53D33-FB6B-4B02-BDD1-1B44213A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5BA14-68DF-4A01-BF23-DA87ED2B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38575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Monthly owner review: what to cut, keep, or scale.</a:t>
            </a:r>
          </a:p>
        </p:txBody>
      </p:sp>
    </p:spTree>
    <p:extLst>
      <p:ext uri="{BB962C8B-B14F-4D97-AF65-F5344CB8AC3E}">
        <p14:creationId xmlns:p14="http://schemas.microsoft.com/office/powerpoint/2010/main" val="9587394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3402F-CDFB-445A-8034-E6B1DA07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B9199-65F5-47B5-8950-1053314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119E1-6C98-4613-BA57-29020CB6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59171-4BFB-44A4-8189-1A44102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2A615-6461-44BF-8804-D3D4EBA7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86E48-A6C1-4475-98B9-CAEB7FA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TIMELINE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66B15-5245-4266-8C40-E17C2A7D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6244E-F0B9-4AE3-AF8A-8F8933DC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14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875B6-FB8C-478C-8F9D-3BC5218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9DA43-EDFE-4FA1-95BA-63663663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486FA-D98B-466F-868E-16DF23AF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9A4CA-1E6A-4E15-9F4C-28C8A14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48601-7FD8-4237-BAB9-F18C6C73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Six-week launch sprint. Then a ninety-day optimization cycle.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1A73E-98DB-4763-991B-8470804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build gets live quickly, but the value comes from tightening source quality, handling, and conversion after launch.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D4425-3FE0-4C53-AA8E-96117935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38E98-CCEF-4A7B-A729-447833B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F240A-9EC6-41B3-98B6-E86E30E0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Week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81BD1-8C9C-4281-AB0A-8105B4E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Access, measurement plan, content inventory, source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6EC6D-3E57-4DAA-AF85-7FF903E9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9D197-A9C6-400C-B073-328DECB3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DE0C0-143F-43DC-9785-A7CD4B3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Weeks 2-3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66763-39B3-4C92-BABC-F2D3604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Homepage, subpages, quote engine, campaign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50F6C-7C19-43BE-943B-F892C3E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0B1E9D-99D2-4FDA-833C-BF879377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C2790B-D9FB-4B9A-951E-E867422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Week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6B79F-EC54-46C8-8179-A4C0DBE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Supabase intake, events, source fields, CRM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BE057-D29B-490F-950A-60058AD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7C3EF-D8AD-4387-9B54-CD722D6B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B644A9-8CF9-4B5A-8E86-F35F35B3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Week 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94F4F-5BE9-40CA-8ADA-3FDE8028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Scripts, sequence, QA, reporting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3FF62-BFBE-4311-9688-A23A04C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2DD78-9555-437A-BAC3-BA208EDF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92E91-3E5B-459C-BE31-85A0BAFA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Week 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4E9F5A-646A-4FF4-A6BD-5190586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2442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Launch, tracking check, first owner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BA0841-D332-46AF-8D92-D47D20D5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52BA6-078B-4B67-AD6A-87FA312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1AFE38-4E4F-47A9-B378-8958277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Days 31-90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D0ADFA-78E4-4A3F-8C15-EB58A5A3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24425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CRO, source cuts, ad tests, sequence tightening</a:t>
            </a:r>
          </a:p>
        </p:txBody>
      </p:sp>
    </p:spTree>
    <p:extLst>
      <p:ext uri="{BB962C8B-B14F-4D97-AF65-F5344CB8AC3E}">
        <p14:creationId xmlns:p14="http://schemas.microsoft.com/office/powerpoint/2010/main" val="12488821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BAF3D-CF63-466A-A57B-6462779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2ACC8-795B-4461-8642-807D65A6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D0714-8C4A-43D2-9B29-FD3F7AE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B9EB7-243F-418E-9EFB-2315F38C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A7E86-FB8B-4296-A98C-81CBEA4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19351-6C49-4E9B-88F0-956BB4C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SCORECARD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C6D20-9E3C-494B-8A6F-879F94E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761D7-C9EB-484B-91A4-3D7472F3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15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AC549-9087-470E-B877-66FF196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C6AEB-C9CA-4F84-8A77-8BC06844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BE319-684F-4F1A-975E-55F7961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327FC-27D4-496C-8068-EA363FD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20432-BA96-4BD7-AD3F-D9B4DF2A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We manage the numbers that tell you whether the machine is working.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410F1-DE99-4030-8A76-DFCB0F5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Not vanity leads. Not generic traffic. The scorecard is built around speed, contact, appointment quality, sold jobs, and CAC.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0FB9B-503B-4FF4-901D-CA04CCE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2608D-6413-4721-ADF7-448AA881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7E129-ADEC-4024-AEC3-1E9F56F4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Lead to first touch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F8E14-D037-4BDD-9545-9C45AD22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56D74-FC16-48AC-8F76-194ED55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F287A-B230-48D8-A494-6A6795E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Reached homeowner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28DA6-78D5-4EFC-B5C1-1ECA905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5A7FD-7A82-44EC-92BD-15A9145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B4929-86B1-49F2-99F4-7490F15E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Booked appointment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A7625-237D-4917-800A-0CBF2DFB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5247D-05CC-4D72-8F53-42DC691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32E57-A641-447B-B494-8F4C1905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Sat / virtual quoted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B250A-3A7B-44F1-B0CC-22D24787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76381-55FB-4460-A720-6407088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Sold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DABEB-1F12-4AEF-9A6B-FB8BF99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Closed job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5AFD8-6634-40F9-92FF-AA1DF9B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575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06522-BEE3-4D37-A4C0-A8E0954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467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CAC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9926C-5176-48B3-9A8B-4D2C579B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81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Source-level job 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2F673-8210-445C-95BF-221BF11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971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Every month should end with three owner decisions: scale this, fix this, stop buying this.</a:t>
            </a:r>
          </a:p>
        </p:txBody>
      </p:sp>
    </p:spTree>
    <p:extLst>
      <p:ext uri="{BB962C8B-B14F-4D97-AF65-F5344CB8AC3E}">
        <p14:creationId xmlns:p14="http://schemas.microsoft.com/office/powerpoint/2010/main" val="208039990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0F37E-ED5D-4223-8AD0-DDFAF60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85ECF-EBAA-4D9D-B1DA-A6CD2F5D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E8DA8-5BB4-47E8-BF69-3E7E94F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D0C5A-2B41-4D00-9577-352F70B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D2EA2-38E6-4FC5-A086-AAC5760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04B3-F6AE-444E-96B0-6D1C32E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TERMS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CA400-9A85-481C-BE5D-B7A9D6A0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9025A-FDB8-477B-92FD-DE4C2B01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16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B6CB4-BE42-4EE3-8F4C-F3B8071E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86906-69EB-4EF6-80D7-1D91F4D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BB55A-EB8B-4A06-868E-6D43326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2A07A-38C4-4C72-9D95-ED844D3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A1837-BF1E-42B7-955D-F72D595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commercial terms are designed to keep both sides honest.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CD104-DEEC-4577-8E93-AB209E9D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Clear launch commitments, clear owner visibility, no fantasy performance promise, and a clean break clause if the work is not earning its keep.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2EB72-25F8-415C-9F50-CE6B18A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3028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25B7F-53D5-43C0-87A6-15B5AD6C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53D0E-AFA9-4668-AFDC-826F2B11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Launch guarantee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6A62A-312B-474B-95FA-3925E610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29025"/>
            <a:ext cx="2628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If the scoped build is delayed by us past the agreed launch window, we keep working at no added buildout fee until it is launch-ready.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51AA3-499C-4726-9964-12029E8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3028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2B1BC-C444-47C9-ACDE-8B29332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6D227-2256-40BF-82FB-C10FD57A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Operating guarantee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43EA9-DAE7-4DB1-A590-F2E7D34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2628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You get monthly reporting, documented tests, and clear recommendations. No black-box marketing spend.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53570-863C-46E7-9B43-D424F4C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3028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3730D-931D-4377-A3CA-5D64F66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3A7B4-0E95-4D04-BF93-38492AA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Break clause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3F0DC-BCF1-4FFC-9811-69D73C60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2628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After the first 90-day operating cycle, either side can end the monthly retainer with 30 days notice. Build-only has no ongoing commitment.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C43AC-46A0-43EE-80A1-3EF5CB96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Guardrail: no one can honestly guarantee ad platform cost, homeowner behavior, financing changes, or sales execution. We guarantee the operating discipline.</a:t>
            </a:r>
          </a:p>
        </p:txBody>
      </p:sp>
    </p:spTree>
    <p:extLst>
      <p:ext uri="{BB962C8B-B14F-4D97-AF65-F5344CB8AC3E}">
        <p14:creationId xmlns:p14="http://schemas.microsoft.com/office/powerpoint/2010/main" val="15836937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8FDB4-46AD-4D02-ACAC-BC3A438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0F1BD-BA5E-42E3-BBE4-1E4E90A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5049D-7D9B-489C-9EFC-8FCA156F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791D1-D633-449A-BBA1-568E613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4DA40-420F-495A-BC52-5368006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7AA20-136D-44B0-9B86-0D0D7C7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PRICING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9F13D-DA0E-4635-80B4-CB7FEF91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0BE7A-6508-48F4-9FCB-E245818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17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A8EF0-8AC5-4EC2-861E-59D7363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C77D-3B42-41BF-A92C-224841F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24DE2-E796-4932-B8B0-00550EE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E5A1B-0E8D-4F02-9B73-49FE71B6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3C744-AF63-4B8D-90C9-282035B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Three ways to engage, depending on how much control you want us to take.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C005E-8E8D-47D1-86AF-395409C3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Option A is the recommended path because the build and the operating work belong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FDE81-1BE9-4612-A150-272EDA0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1623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19050">
            <a:solidFill>
              <a:srgbClr val="42C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4506C-AAD4-4521-BB1B-25D4C34C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Option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A8663-09DB-4A16-AB20-E33B2FF7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Build + operate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1D36E-2330-456B-B1F6-B649620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$6,000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AFAD1-9945-47F8-A03F-B242D331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+ $12,000/mo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C3BB2-FA7E-4329-B0C3-85EA5C9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B4523-A290-4102-AD4B-0C1BE6C8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Recommended. Website, quote engine, intake, campaign routes, RevOps map, scripts, assets, scorecard, and monthly operation.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2BFBC-0D54-4440-B539-5D9682A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31623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E39BA-9694-435E-A5C0-9889208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Option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EC97D-59DB-4188-BB4D-24F2EB8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Build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EF8AA-1C93-4B6F-A6E2-73390398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$6,000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2D5951-0888-422A-ABDD-2E5D73A1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95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one-time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B64C3-7889-4B65-9A4A-69A75F1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EC137-6161-4B92-9FAB-7FBD1E6C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101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Website and quote system delivered with handoff. No ongoing testing, reporting, or lead-handling operation.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C9585-085D-472C-9198-F4D69D2C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623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19050">
            <a:solidFill>
              <a:srgbClr val="3DDC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75F27-5DE5-4D58-9A07-AC848FF2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Option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7558B-3067-42DA-B5C4-B0FA047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433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Operate 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0F19A5-731E-4229-824E-9B80092F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$12,000/mo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FF6831-00DB-4CC7-B1F9-34964051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retainer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BA033D-62AB-4573-AC21-F4F5F5AB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53D0F-1828-421C-93A6-30A9D0AC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101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We manage the current acquisition stack, scripts, sequence, reporting, and tests before or without the website rebuild.</a:t>
            </a:r>
          </a:p>
        </p:txBody>
      </p:sp>
    </p:spTree>
    <p:extLst>
      <p:ext uri="{BB962C8B-B14F-4D97-AF65-F5344CB8AC3E}">
        <p14:creationId xmlns:p14="http://schemas.microsoft.com/office/powerpoint/2010/main" val="4829082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E9836-52B7-458C-B1B0-B4D4373E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7D780-EA5D-4895-A7E4-BBFDB64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7509E-D2A4-48DB-88B8-6F23AA02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FB86F-6B4F-49DC-9907-F1BEA2D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E7DCE-52B0-4DD2-ADED-D3A8304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4225-F302-42B4-A647-26F629D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PAYBACK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ECB3B-92CA-4CDE-BB6D-BF864BA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9CF07-EF8C-42C9-9BA1-1D1A3D44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18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9113B-6D38-4BDB-B211-91745071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7F8A2-84BC-4482-86C5-7004D258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098BE-AA00-4B73-B5D6-5EA1689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C5613-BD5F-424E-BBF8-3F42F06E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F70A2-3EBB-46AE-A727-B1BF49B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This does not need many rescued jobs to pay for itself.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CFA9B-60F3-4C6B-A834-A749A213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The math works when the system improves speed-to-lead, appointment quality, close rate, or CAC on even a small number of roofing and solar deals.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E2FA7-7BB4-4CFF-AA57-03F4C507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66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8196A-D818-41F9-A25D-1E6F983B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23BBE-06B2-4A4F-8EE0-3C712EA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Operating leverage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DD02E-C664-4C5C-9B81-4ED4766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A few saved, recovered, or better-routed jobs can cover the monthly operating seat while building an owned asset.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5443B-2FB8-423F-BB2F-82162084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66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C406D-3860-4F31-B8C0-D1AF5D1E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B0F90-A4E6-4529-BEBD-3EB6093B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One better solar 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D06BE-92D4-4C02-96EA-C60FA568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43325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Solar ticket size gives more room, but the market now punishes weak differentiation and slow follow-up.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66729-7D1A-4CA8-BE3F-8D57E6C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667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40250-FF4A-4802-B25B-1599C265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47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F9572-E83B-45E7-B0BF-F5D73192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One bad source cut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A85F2-11CC-4472-A523-8BC5881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43325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Stopping one underperforming source can be as valuable as launching a new one.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1290A-E29F-42FA-A265-26025DBE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The upside is not magic. It is fewer wasted touches and faster owner decisions.</a:t>
            </a:r>
          </a:p>
        </p:txBody>
      </p:sp>
    </p:spTree>
    <p:extLst>
      <p:ext uri="{BB962C8B-B14F-4D97-AF65-F5344CB8AC3E}">
        <p14:creationId xmlns:p14="http://schemas.microsoft.com/office/powerpoint/2010/main" val="2935565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1B1B7-ECD9-43AF-9EC3-2D808CD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6858D-D11D-4EC1-B0D0-7FF7113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4BB44-C153-4584-AA4C-FB0B61EA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DAC60-BB86-47FF-BF94-3C346BCF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22F4E-4543-4351-98E0-5C8A689F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6BF2-C42E-4F20-80DA-E17D4473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DD809-8B3C-4E13-8429-EF202AFC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E6A60-1217-491E-BE57-6176237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19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17432-EE6E-4A79-8312-F81BACE0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E3556-4F11-4C73-AFF0-95CBBABC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9175E-7EC4-47EE-9291-A7ECCD8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ADE27-B74C-4E75-ACA8-696B733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0644C-6AF3-446C-9776-96C7094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Start with Option A and make the first ninety days about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06894-FBAB-4D4E-925C-B894CC09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Build the owned asset, route high-intent demand correctly, and review the numbers with owner-level discipline every month.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AECAF-3D59-4445-803C-A85E794E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97917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19050">
            <a:solidFill>
              <a:srgbClr val="42C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34EA2-E39E-46A6-AA88-022C8C6D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Recommended: Option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22091-0A85-4A04-8A15-4FBD705A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$6,000 buildout + $12,000/month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49163-DF90-4623-9951-BFA9DD41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Reason: the updated SOW, campaign assets, quote engine, routing, scripts, reporting, and 90-day operation work as one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F7EF-C399-478B-8086-13BB707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05739-71D2-4661-8B0A-A08CB25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1965D-CCBD-47A7-B2C2-FB2443E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05425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Build the asset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A469F-04CD-40D3-87B1-884EBD4D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97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07405-AFF7-4EF5-97E9-BDCDA4F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197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91D36-CFCA-416E-A5A4-555968BE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054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Operate the first touches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C8976-9A32-4709-BAF2-8F171009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30CFA-B033-4197-9E4E-68B2A79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97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3DEAB-15AD-4F6E-AA57-B540F32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05425"/>
            <a:ext cx="2495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Review by source economics</a:t>
            </a:r>
          </a:p>
        </p:txBody>
      </p:sp>
    </p:spTree>
    <p:extLst>
      <p:ext uri="{BB962C8B-B14F-4D97-AF65-F5344CB8AC3E}">
        <p14:creationId xmlns:p14="http://schemas.microsoft.com/office/powerpoint/2010/main" val="149002663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5F6A1-FDB2-40D9-BC2C-C3E36ED8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C3ED5-4919-4FC8-B235-96ED30F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BA387-A3B7-4B06-91F2-BB024F8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2C532-DF32-46E7-A222-4FAF764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2C1C9-CEDC-49FD-999C-3C5D3053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6BA40-4890-4718-80C9-1F6801E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52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NEXT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90FFF-F822-470B-9E0C-F315E76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"/>
            <a:ext cx="342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ALLSEASON OWNER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128F4-DAEA-434F-8E47-5BED6E4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7200"/>
            <a:ext cx="1047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20 /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9D34F-EDC2-45CE-856C-ECD97A38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8E24F-182A-4837-BAA6-061434E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66DCD-C57C-40FF-A7D4-13239F5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84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8498"/>
                </a:solidFill>
                <a:latin typeface="Aptos"/>
                <a:ea typeface="Aptos"/>
                <a:cs typeface="Aptos"/>
              </a:rPr>
              <a:t>Owned acquisition layer + day-zero handling + reporting discipline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0601D-EFD5-477D-AD61-7F8388E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03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8498"/>
                </a:solidFill>
                <a:latin typeface="Aptos Display"/>
                <a:ea typeface="Aptos Display"/>
                <a:cs typeface="Aptos Display"/>
              </a:rPr>
              <a:t>2STACK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CB95A-F8A5-47C9-A1A9-D7F73F6A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8FC"/>
                </a:solidFill>
                <a:latin typeface="Aptos Display"/>
                <a:ea typeface="Aptos Display"/>
                <a:cs typeface="Aptos Display"/>
              </a:rPr>
              <a:t>Approve the sprint. We will turn the plan into the first working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63015-9F22-4D1C-951B-5F2CFF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619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CAFC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CAFC1"/>
                </a:solidFill>
                <a:latin typeface="Aptos"/>
                <a:ea typeface="Aptos"/>
                <a:cs typeface="Aptos"/>
              </a:rPr>
              <a:t>Kickoff, access, build, launch, and first scorecard review. The next decision is not abstract - it is whether to start.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79C19-1B56-4DD5-9889-E0AE606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ECDC4-F2BF-40C6-A9DB-43B7063D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7C884-893D-4780-B9D7-2A40E83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1. Kickoff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69963-3855-47B6-99D4-166ADCCB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Confirm scope, access, tracking, and source map.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02DF1-33E2-4678-AAE9-63A35285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3E082-1813-48CF-A5D5-08C035E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95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68979-74BD-4D73-A1E8-4476D56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42C8FF"/>
                </a:solidFill>
                <a:latin typeface="Aptos Display"/>
                <a:ea typeface="Aptos Display"/>
                <a:cs typeface="Aptos Display"/>
              </a:rPr>
              <a:t>2.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734DC-DB4D-4B70-AB0D-CA21315C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Website, quote engine, intake, scripts, reporting.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4D5CE-D5C5-468D-A2A6-EED09BD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A2D"/>
          </a:solidFill>
          <a:ln xmlns:a="http://schemas.openxmlformats.org/drawingml/2006/main" w="9525">
            <a:solidFill>
              <a:srgbClr val="2742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497CE-57A2-4B09-83D9-04BA22CE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95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20FB2-2868-42FE-B1B2-5D8929AC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DDC97"/>
                </a:solidFill>
                <a:latin typeface="Aptos Display"/>
                <a:ea typeface="Aptos Display"/>
                <a:cs typeface="Aptos Display"/>
              </a:rPr>
              <a:t>3. 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AEEB7-1FD5-4BE3-8519-41B041F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9625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Launch, measure, tighten, and decide what scales.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CF760-23B9-49AD-8EBF-1F1E414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28750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55B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2A1B0-C618-49A3-AEF8-C1531FC2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8BE4FF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968A1-1AC8-47EB-876D-55BC316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Start Option A under updated SOW</a:t>
            </a:r>
          </a:p>
        </p:txBody>
      </p:sp>
    </p:spTree>
    <p:extLst>
      <p:ext uri="{BB962C8B-B14F-4D97-AF65-F5344CB8AC3E}">
        <p14:creationId xmlns:p14="http://schemas.microsoft.com/office/powerpoint/2010/main" val="1741027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2026-06-14T12:58:33.6290000Z</dcterms:created>
  <dcterms:modified xsi:type="dcterms:W3CDTF">2026-06-14T12:58:33.6290000Z</dcterms:modified>
</coreProperties>
</file>